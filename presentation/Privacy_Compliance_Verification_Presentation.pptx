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Applications</c:v>
          </c:tx>
          <c:invertIfNegative val="1"/>
          <c:dPt>
            <c:idx val="0"/>
            <c:invertIfNegative val="0"/>
            <c:bubble3D val="0"/>
            <c:spPr>
              <a:solidFill>
                <a:srgbClr val="FF5C85"/>
              </a:solidFill>
            </c:spPr>
          </c:dPt>
          <c:dPt>
            <c:idx val="1"/>
            <c:invertIfNegative val="0"/>
            <c:bubble3D val="0"/>
            <c:spPr>
              <a:solidFill>
                <a:srgbClr val="2DE3A3"/>
              </a:solidFill>
            </c:spPr>
          </c:dPt>
          <c:dPt>
            <c:idx val="2"/>
            <c:invertIfNegative val="0"/>
            <c:bubble3D val="0"/>
            <c:spPr>
              <a:solidFill>
                <a:srgbClr val="F3B63E"/>
              </a:solidFill>
            </c:spPr>
          </c:dPt>
          <c:dLbls>
            <c:txPr>
              <a:bodyPr anchorCtr="1"/>
              <a:lstStyle/>
              <a:p>
                <a:pPr>
                  <a:defRPr sz="1350" b="1">
                    <a:solidFill>
                      <a:srgbClr val="F4F7F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Potential policy gap</c:v>
                </c:pt>
                <c:pt idx="1">
                  <c:v>All comparable types disclosed</c:v>
                </c:pt>
                <c:pt idx="2">
                  <c:v>Policy check incomplete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13</c:v>
                </c:pt>
                <c:pt idx="1">
                  <c:v>10</c:v>
                </c:pt>
                <c:pt idx="2">
                  <c:v>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31634304"/>
        <c:axId val="131635840"/>
      </c:barChart>
      <c:catAx>
        <c:axId val="131634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1635840"/>
        <c:crosses val="autoZero"/>
        <c:auto val="1"/>
        <c:lblAlgn val="ctr"/>
        <c:lblOffset val="100"/>
        <c:noMultiLvlLbl val="1"/>
      </c:catAx>
      <c:valAx>
        <c:axId val="13163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26344E"/>
            </a:solidFill>
          </a:ln>
        </c:spPr>
        <c:txPr>
          <a:bodyPr anchorCtr="1"/>
          <a:lstStyle/>
          <a:p>
            <a:pPr>
              <a:defRPr sz="12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31634304"/>
        <c:crosses val="autoZero"/>
        <c:crossBetween val="between"/>
      </c:valAx>
      <c:spPr>
        <a:solidFill>
          <a:srgbClr val="070B18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0B18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Occurrences</c:v>
          </c:tx>
          <c:invertIfNegative val="1"/>
          <c:dPt>
            <c:idx val="0"/>
            <c:invertIfNegative val="0"/>
            <c:bubble3D val="0"/>
            <c:spPr>
              <a:solidFill>
                <a:srgbClr val="27D3F2"/>
              </a:solidFill>
            </c:spPr>
          </c:dPt>
          <c:dPt>
            <c:idx val="1"/>
            <c:invertIfNegative val="0"/>
            <c:bubble3D val="0"/>
            <c:spPr>
              <a:solidFill>
                <a:srgbClr val="5C8DFF"/>
              </a:solidFill>
            </c:spPr>
          </c:dPt>
          <c:dPt>
            <c:idx val="2"/>
            <c:invertIfNegative val="0"/>
            <c:bubble3D val="0"/>
            <c:spPr>
              <a:solidFill>
                <a:srgbClr val="2DE3A3"/>
              </a:solidFill>
            </c:spPr>
          </c:dPt>
          <c:dPt>
            <c:idx val="3"/>
            <c:invertIfNegative val="0"/>
            <c:bubble3D val="0"/>
            <c:spPr>
              <a:solidFill>
                <a:srgbClr val="A88BFF"/>
              </a:solidFill>
            </c:spPr>
          </c:dPt>
          <c:dPt>
            <c:idx val="4"/>
            <c:invertIfNegative val="0"/>
            <c:bubble3D val="0"/>
            <c:spPr>
              <a:solidFill>
                <a:srgbClr val="F3B63E"/>
              </a:solidFill>
            </c:spPr>
          </c:dPt>
          <c:dPt>
            <c:idx val="5"/>
            <c:invertIfNegative val="0"/>
            <c:bubble3D val="0"/>
            <c:spPr>
              <a:solidFill>
                <a:srgbClr val="FF5C85"/>
              </a:solidFill>
            </c:spPr>
          </c:dPt>
          <c:dPt>
            <c:idx val="6"/>
            <c:invertIfNegative val="0"/>
            <c:bubble3D val="0"/>
            <c:spPr>
              <a:solidFill>
                <a:srgbClr val="7F95B8"/>
              </a:solidFill>
            </c:spPr>
          </c:dPt>
          <c:dLbls>
            <c:numFmt formatCode="#,##0" sourceLinked="0"/>
            <c:txPr>
              <a:bodyPr anchorCtr="1"/>
              <a:lstStyle/>
              <a:p>
                <a:pPr>
                  <a:defRPr sz="1125" b="1">
                    <a:solidFill>
                      <a:srgbClr val="F4F7F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Data'!$A$2:$A$8</c:f>
              <c:strCache>
                <c:ptCount val="7"/>
                <c:pt idx="0">
                  <c:v>Personal information</c:v>
                </c:pt>
                <c:pt idx="1">
                  <c:v>Authentication</c:v>
                </c:pt>
                <c:pt idx="2">
                  <c:v>Location</c:v>
                </c:pt>
                <c:pt idx="3">
                  <c:v>Device identifiers</c:v>
                </c:pt>
                <c:pt idx="4">
                  <c:v>Security</c:v>
                </c:pt>
                <c:pt idx="5">
                  <c:v>API credentials</c:v>
                </c:pt>
                <c:pt idx="6">
                  <c:v>Network information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27073</c:v>
                </c:pt>
                <c:pt idx="1">
                  <c:v>22717</c:v>
                </c:pt>
                <c:pt idx="2">
                  <c:v>17306</c:v>
                </c:pt>
                <c:pt idx="3">
                  <c:v>14138</c:v>
                </c:pt>
                <c:pt idx="4">
                  <c:v>1826</c:v>
                </c:pt>
                <c:pt idx="5">
                  <c:v>1009</c:v>
                </c:pt>
                <c:pt idx="6">
                  <c:v>623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131149824"/>
        <c:axId val="131151360"/>
      </c:barChart>
      <c:catAx>
        <c:axId val="13114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1151360"/>
        <c:crosses val="autoZero"/>
        <c:auto val="1"/>
        <c:lblAlgn val="ctr"/>
        <c:lblOffset val="100"/>
        <c:noMultiLvlLbl val="1"/>
      </c:catAx>
      <c:valAx>
        <c:axId val="13115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26344E"/>
            </a:solidFill>
          </a:ln>
        </c:spPr>
        <c:txPr>
          <a:bodyPr anchorCtr="1"/>
          <a:lstStyle/>
          <a:p>
            <a:pPr>
              <a:defRPr sz="11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31149824"/>
        <c:crosses val="autoZero"/>
        <c:crossBetween val="between"/>
      </c:valAx>
      <c:spPr>
        <a:solidFill>
          <a:srgbClr val="070B18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0B18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04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This project studies whether sensitive information visible in application network traffic is also disclosed in the application's privacy policy. The output supports evidence-based review and does not make a legal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gap between legal prose and observable technical behavior. The framework converts both sides into comparable information types while keeping risk signals separate from policy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interactions were performed manually to cover the main features. The framework remains capture-scoped, so the test session and traffic visibility directly affect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six pipeline stages. Emphasize that evidence remains attached to the exact network source, direction, key and domain until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demonstrates why the framework handles modern mobile traffic rather than only plain JSON. Also mention that bounded parsing and conservative aliases are important to avoid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distinction prevents two major errors: treating routine authentication tokens as undisclosed personal data, and treating every URL risk as proof of policy non-compliance.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data/analysis/master_results.json and per-app compliance_results.json. Totals: 30 apps, 34170 requests, 84692 sensitive occurrences, 5354 unique artifacts. Dashboard results: 13 potential gaps, 10 all disclosed, 7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category totals in data/analysis/master_results.json. Security and API credential findings are preserved as evidence but excluded from automatic privacy-category mismatch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Risk totals come from master_results.json: 19 app-level personal-data-in-URL signals and 16 credential-in-URL signals, giving 35 total signal records. The dashboard keeps these separate from policy disclosure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data/output/Truecaller/compliance_results.json. Exact outbound counts are 107 authorization-token occurrences, 67 phone, 8 name and 4 email. The policy evidence cites Truecaller's privacy policy and India privacy summary. Two personal-data-in-URL evidence items produce a medium risk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repository test baseline is 244 passing tests. External datasets support detector portability checks, while raw personal captures are intentionally excluded from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Close by demonstrating one app end to end. If time is short, open the dashboard directly and show the </a:t>
            </a:r>
            <a:r>
              <a:rPr dirty="0" err="1"/>
              <a:t>Truecaller</a:t>
            </a:r>
            <a:r>
              <a:rPr dirty="0"/>
              <a:t> detail page, policy evidence and URL risk signal. Invite questions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4B593712-8F14-4F19-93A6-CDF105F7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7ECC1858-8618-4472-8C12-49C0A694F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7B4F0B6D-151E-41C4-853F-D671D0F1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28E29C41-5DDA-4E87-B2B9-8E1A4E60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2BCFAB78-F946-4371-B7BD-B10C28F3C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8E137074-4DEB-4E5C-A18F-9B173B26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590DA658-21EB-4061-884E-80EA96FFC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8FACF1D6-76FC-47A9-8AE5-32DBFADEC5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4DE3E6ED-FACA-4DBC-98B6-FD1991A6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886B62C4-CEEC-4C43-ACA0-EC45D08F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78EAA17D-DDBA-4FB2-943C-5CA3F7D25B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76F38DE-B57E-4795-B887-118E4EFDDD27}"/>
              </a:ext>
            </a:extLst>
          </p:cNvPr>
          <p:cNvSpPr>
            <a:spLocks noGrp="1"/>
          </p:cNvSpPr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10182B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B2CF798-63A1-4424-B674-F60A693512BA}"/>
              </a:ext>
            </a:extLst>
          </p:cNvPr>
          <p:cNvSpPr>
            <a:spLocks noGrp="1"/>
          </p:cNvSpPr>
          <p:nvPr/>
        </p:nvSpPr>
        <p:spPr>
          <a:xfrm>
            <a:off x="8001000" y="809625"/>
            <a:ext cx="2476500" cy="1905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FFE303E8-8BFD-4963-8A6E-E78C31F0CF76}"/>
              </a:ext>
            </a:extLst>
          </p:cNvPr>
          <p:cNvSpPr>
            <a:spLocks noGrp="1"/>
          </p:cNvSpPr>
          <p:nvPr/>
        </p:nvSpPr>
        <p:spPr>
          <a:xfrm>
            <a:off x="10001250" y="6858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7D3F2"/>
          </a:solidFill>
          <a:ln w="9525">
            <a:solidFill>
              <a:srgbClr val="27D3F2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94CE137-F76F-420E-B6EB-F1F7CDEEBBA5}"/>
              </a:ext>
            </a:extLst>
          </p:cNvPr>
          <p:cNvSpPr>
            <a:spLocks noGrp="1"/>
          </p:cNvSpPr>
          <p:nvPr/>
        </p:nvSpPr>
        <p:spPr>
          <a:xfrm>
            <a:off x="8763000" y="1495425"/>
            <a:ext cx="247650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C8010DFD-BFB0-42D2-B5E4-508FFFB3F65D}"/>
              </a:ext>
            </a:extLst>
          </p:cNvPr>
          <p:cNvSpPr>
            <a:spLocks noGrp="1"/>
          </p:cNvSpPr>
          <p:nvPr/>
        </p:nvSpPr>
        <p:spPr>
          <a:xfrm>
            <a:off x="9144000" y="13716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72238"/>
          </a:solidFill>
          <a:ln w="9525">
            <a:solidFill>
              <a:srgbClr val="27D3F2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A72F7B6-E330-4C99-8EA7-3FDDF8F871E0}"/>
              </a:ext>
            </a:extLst>
          </p:cNvPr>
          <p:cNvSpPr>
            <a:spLocks noGrp="1"/>
          </p:cNvSpPr>
          <p:nvPr/>
        </p:nvSpPr>
        <p:spPr>
          <a:xfrm>
            <a:off x="8001000" y="2181225"/>
            <a:ext cx="247650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3B5816C6-BE35-4E77-A7CE-7B8467230DDF}"/>
              </a:ext>
            </a:extLst>
          </p:cNvPr>
          <p:cNvSpPr>
            <a:spLocks noGrp="1"/>
          </p:cNvSpPr>
          <p:nvPr/>
        </p:nvSpPr>
        <p:spPr>
          <a:xfrm>
            <a:off x="10001250" y="20574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72238"/>
          </a:solidFill>
          <a:ln w="9525">
            <a:solidFill>
              <a:srgbClr val="27D3F2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5D2F3DE-2331-4103-993B-68ACEA42D267}"/>
              </a:ext>
            </a:extLst>
          </p:cNvPr>
          <p:cNvSpPr>
            <a:spLocks noGrp="1"/>
          </p:cNvSpPr>
          <p:nvPr/>
        </p:nvSpPr>
        <p:spPr>
          <a:xfrm>
            <a:off x="8763000" y="2867025"/>
            <a:ext cx="2476500" cy="1905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16D5B5CF-8443-40CD-9938-90B3B0858495}"/>
              </a:ext>
            </a:extLst>
          </p:cNvPr>
          <p:cNvSpPr>
            <a:spLocks noGrp="1"/>
          </p:cNvSpPr>
          <p:nvPr/>
        </p:nvSpPr>
        <p:spPr>
          <a:xfrm>
            <a:off x="9144000" y="27432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7D3F2"/>
          </a:solidFill>
          <a:ln w="9525">
            <a:solidFill>
              <a:srgbClr val="27D3F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A2CEA08-98DB-41D1-9744-2470D069826E}"/>
              </a:ext>
            </a:extLst>
          </p:cNvPr>
          <p:cNvSpPr>
            <a:spLocks noGrp="1"/>
          </p:cNvSpPr>
          <p:nvPr/>
        </p:nvSpPr>
        <p:spPr>
          <a:xfrm>
            <a:off x="8001000" y="3552825"/>
            <a:ext cx="247650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837BC4B2-B9AE-4AEA-AE95-5A1CF769D398}"/>
              </a:ext>
            </a:extLst>
          </p:cNvPr>
          <p:cNvSpPr>
            <a:spLocks noGrp="1"/>
          </p:cNvSpPr>
          <p:nvPr/>
        </p:nvSpPr>
        <p:spPr>
          <a:xfrm>
            <a:off x="10001250" y="3429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72238"/>
          </a:solidFill>
          <a:ln w="9525">
            <a:solidFill>
              <a:srgbClr val="27D3F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226F6E6-161F-40DD-9EAD-1BD9F521F0D3}"/>
              </a:ext>
            </a:extLst>
          </p:cNvPr>
          <p:cNvSpPr>
            <a:spLocks noGrp="1"/>
          </p:cNvSpPr>
          <p:nvPr/>
        </p:nvSpPr>
        <p:spPr>
          <a:xfrm>
            <a:off x="8763000" y="4238625"/>
            <a:ext cx="247650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D82F0E8F-9F8D-42E4-8C5D-FF4B8C3834D3}"/>
              </a:ext>
            </a:extLst>
          </p:cNvPr>
          <p:cNvSpPr>
            <a:spLocks noGrp="1"/>
          </p:cNvSpPr>
          <p:nvPr/>
        </p:nvSpPr>
        <p:spPr>
          <a:xfrm>
            <a:off x="9144000" y="41148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72238"/>
          </a:solidFill>
          <a:ln w="9525">
            <a:solidFill>
              <a:srgbClr val="27D3F2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944127D-AD0E-422B-9682-840242F68AF4}"/>
              </a:ext>
            </a:extLst>
          </p:cNvPr>
          <p:cNvSpPr>
            <a:spLocks noGrp="1"/>
          </p:cNvSpPr>
          <p:nvPr/>
        </p:nvSpPr>
        <p:spPr>
          <a:xfrm>
            <a:off x="8001000" y="4924425"/>
            <a:ext cx="2476500" cy="1905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53EE71EB-3D6C-444D-A586-A4956E4E21C4}"/>
              </a:ext>
            </a:extLst>
          </p:cNvPr>
          <p:cNvSpPr>
            <a:spLocks noGrp="1"/>
          </p:cNvSpPr>
          <p:nvPr/>
        </p:nvSpPr>
        <p:spPr>
          <a:xfrm>
            <a:off x="10001250" y="48006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7D3F2"/>
          </a:solidFill>
          <a:ln w="9525">
            <a:solidFill>
              <a:srgbClr val="27D3F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B7E4113-B55C-4E04-AA96-7E35B6CA8D0E}"/>
              </a:ext>
            </a:extLst>
          </p:cNvPr>
          <p:cNvSpPr>
            <a:spLocks noGrp="1"/>
          </p:cNvSpPr>
          <p:nvPr/>
        </p:nvSpPr>
        <p:spPr>
          <a:xfrm>
            <a:off x="8763000" y="5610225"/>
            <a:ext cx="247650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71CFC986-34C4-4B8A-A9CD-8FAFADD28C80}"/>
              </a:ext>
            </a:extLst>
          </p:cNvPr>
          <p:cNvSpPr>
            <a:spLocks noGrp="1"/>
          </p:cNvSpPr>
          <p:nvPr/>
        </p:nvSpPr>
        <p:spPr>
          <a:xfrm>
            <a:off x="9144000" y="54864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72238"/>
          </a:solidFill>
          <a:ln w="9525">
            <a:solidFill>
              <a:srgbClr val="27D3F2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C3E82B00-55D1-41BC-9DEB-7DB296E6E06B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619125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Automated Privacy Policy</a:t>
            </a:r>
          </a:p>
          <a:p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Compliance Verification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396DF22E-3A14-464D-A8E2-19964DA5454E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025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D3F2"/>
                </a:solidFill>
                <a:latin typeface="Arial"/>
                <a:ea typeface="Arial"/>
                <a:cs typeface="Arial"/>
              </a:rPr>
              <a:t>Using dynamic network traffic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C3ED81F-8106-4F01-9DC3-8E1DA40DE25D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Privacy Compliance Verification Framework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708F4618-D1FB-4908-91DD-66DA80F3BE0F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Presented by Vimlesh Maurya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3FA75A9-6D52-41A1-A69E-AC20AEB25C96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1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College project presentation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0619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B73B775-64FA-4CED-B2F9-1B7257868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740DEF1-E2E2-4770-9724-FC5A9DF2E27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Research problem and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8133936-5704-414A-AF2A-F3479C4CB16E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FB49D0A-CBA3-4F04-BEBF-CC28EDF0B07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969" lnSpcReduction="20000"/>
          </a:bodyPr>
          <a:lstStyle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Privacy policies describe data practices in prose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46FCA6D-6DB0-4553-963B-3B2EA2BE7EB8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4953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7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Network captures show what an app actually transmits during a tested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31605A2-1302-44AA-B1E5-68FFB1195642}"/>
              </a:ext>
            </a:extLst>
          </p:cNvPr>
          <p:cNvSpPr>
            <a:spLocks noGrp="1"/>
          </p:cNvSpPr>
          <p:nvPr/>
        </p:nvSpPr>
        <p:spPr>
          <a:xfrm>
            <a:off x="6019800" y="1381125"/>
            <a:ext cx="38100" cy="400050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AD6EB78-13CB-460C-8CB2-F32E31A6605A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9CC4903-4C03-4370-A43D-CEE42A20B098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466725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35" lnSpcReduction="20000"/>
          </a:bodyPr>
          <a:lstStyle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Do the information types observed in app-owned outbound traffic appear in the reviewed privacy policy?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100C7D8-D46B-4F3B-B4B7-7A18CF8291F9}"/>
              </a:ext>
            </a:extLst>
          </p:cNvPr>
          <p:cNvSpPr>
            <a:spLocks noGrp="1"/>
          </p:cNvSpPr>
          <p:nvPr/>
        </p:nvSpPr>
        <p:spPr>
          <a:xfrm>
            <a:off x="6572250" y="34480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5A8EE39-19F2-41DE-A037-612F748EC161}"/>
              </a:ext>
            </a:extLst>
          </p:cNvPr>
          <p:cNvSpPr>
            <a:spLocks noGrp="1"/>
          </p:cNvSpPr>
          <p:nvPr/>
        </p:nvSpPr>
        <p:spPr>
          <a:xfrm>
            <a:off x="6534150" y="386715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>
            <a:defPPr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Detect sensitive information in HAR traffic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Preserve evidence location and destination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Compare observed information types with reviewed policy statements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Report URL exposure risks separately</a:t>
            </a:r>
          </a:p>
        </p:txBody>
      </p:sp>
    </p:spTree>
    <p:extLst>
      <p:ext uri="{BB962C8B-B14F-4D97-AF65-F5344CB8AC3E}">
        <p14:creationId xmlns:p14="http://schemas.microsoft.com/office/powerpoint/2010/main" val="195426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8565A1D-8A10-42D7-BB6F-503DA07CA3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6330E27-D3E8-439A-8F92-C65E2BD4806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Empirical data collection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B06197B-ADA1-4E14-B414-6E108D30577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Dynamic analysis with HTTP Toolkit and app interaction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B3E81B3-0C30-48BD-9D53-38236D7210B9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11B1D99-990B-4A95-A5B3-CD15EF2128A5}"/>
              </a:ext>
            </a:extLst>
          </p:cNvPr>
          <p:cNvSpPr>
            <a:spLocks noGrp="1"/>
          </p:cNvSpPr>
          <p:nvPr/>
        </p:nvSpPr>
        <p:spPr>
          <a:xfrm>
            <a:off x="714375" y="1657350"/>
            <a:ext cx="2095500" cy="5715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649637C-5E72-44DB-9736-50213DB6567B}"/>
              </a:ext>
            </a:extLst>
          </p:cNvPr>
          <p:cNvSpPr>
            <a:spLocks noGrp="1"/>
          </p:cNvSpPr>
          <p:nvPr/>
        </p:nvSpPr>
        <p:spPr>
          <a:xfrm>
            <a:off x="714375" y="18478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1  Capture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92DB0C0-23D7-4AE5-88B7-2789DE1FB698}"/>
              </a:ext>
            </a:extLst>
          </p:cNvPr>
          <p:cNvSpPr>
            <a:spLocks noGrp="1"/>
          </p:cNvSpPr>
          <p:nvPr/>
        </p:nvSpPr>
        <p:spPr>
          <a:xfrm>
            <a:off x="714375" y="2343150"/>
            <a:ext cx="20955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Intercept HTTP and HTTPS traffic from the test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2AC3559-0A38-4F27-9B12-EB1B4EDABFF0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095500" cy="57150"/>
          </a:xfrm>
          <a:prstGeom prst="rect">
            <a:avLst/>
          </a:prstGeom>
          <a:solidFill>
            <a:srgbClr val="5C8D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5118B5-CD13-4592-A278-4C3DE7BBFFF1}"/>
              </a:ext>
            </a:extLst>
          </p:cNvPr>
          <p:cNvSpPr>
            <a:spLocks noGrp="1"/>
          </p:cNvSpPr>
          <p:nvPr/>
        </p:nvSpPr>
        <p:spPr>
          <a:xfrm>
            <a:off x="3333750" y="18478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8DFF"/>
                </a:solidFill>
                <a:latin typeface="Arial"/>
                <a:ea typeface="Arial"/>
                <a:cs typeface="Arial"/>
              </a:rPr>
              <a:t>2  Exercise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973886A-5A5B-4060-B4DB-5C550C9CD1C8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20955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Use login, search, location, profile and content workflows where available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6B6358E-B361-4E79-958D-1C097E40B99F}"/>
              </a:ext>
            </a:extLst>
          </p:cNvPr>
          <p:cNvSpPr>
            <a:spLocks noGrp="1"/>
          </p:cNvSpPr>
          <p:nvPr/>
        </p:nvSpPr>
        <p:spPr>
          <a:xfrm>
            <a:off x="5953125" y="1657350"/>
            <a:ext cx="2095500" cy="57150"/>
          </a:xfrm>
          <a:prstGeom prst="rect">
            <a:avLst/>
          </a:prstGeom>
          <a:solidFill>
            <a:srgbClr val="A88BF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AEF016B-625F-4DF0-8342-A5ABC4E2F2AB}"/>
              </a:ext>
            </a:extLst>
          </p:cNvPr>
          <p:cNvSpPr>
            <a:spLocks noGrp="1"/>
          </p:cNvSpPr>
          <p:nvPr/>
        </p:nvSpPr>
        <p:spPr>
          <a:xfrm>
            <a:off x="5953125" y="18478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3  Export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E7D58FF-0FBD-442E-89C8-7C75DAA8F49F}"/>
              </a:ext>
            </a:extLst>
          </p:cNvPr>
          <p:cNvSpPr>
            <a:spLocks noGrp="1"/>
          </p:cNvSpPr>
          <p:nvPr/>
        </p:nvSpPr>
        <p:spPr>
          <a:xfrm>
            <a:off x="5953125" y="2343150"/>
            <a:ext cx="20955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Export each session as a HAR file with requests and responses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DD99460-5D5D-49CA-8408-8B3A55D3B101}"/>
              </a:ext>
            </a:extLst>
          </p:cNvPr>
          <p:cNvSpPr>
            <a:spLocks noGrp="1"/>
          </p:cNvSpPr>
          <p:nvPr/>
        </p:nvSpPr>
        <p:spPr>
          <a:xfrm>
            <a:off x="8572500" y="1657350"/>
            <a:ext cx="2095500" cy="57150"/>
          </a:xfrm>
          <a:prstGeom prst="rect">
            <a:avLst/>
          </a:prstGeom>
          <a:solidFill>
            <a:srgbClr val="2DE3A3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1344BCB-D5BC-4F34-AE75-EBAEE45F0102}"/>
              </a:ext>
            </a:extLst>
          </p:cNvPr>
          <p:cNvSpPr>
            <a:spLocks noGrp="1"/>
          </p:cNvSpPr>
          <p:nvPr/>
        </p:nvSpPr>
        <p:spPr>
          <a:xfrm>
            <a:off x="8572500" y="18478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4  Analyze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46738BA-B587-4587-AB8C-267E07A58A4C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0955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Run the same extraction, detection and policy comparison pipeline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442D2A4-5325-4812-AFB5-8B294155A3A4}"/>
              </a:ext>
            </a:extLst>
          </p:cNvPr>
          <p:cNvSpPr>
            <a:spLocks noGrp="1"/>
          </p:cNvSpPr>
          <p:nvPr/>
        </p:nvSpPr>
        <p:spPr>
          <a:xfrm>
            <a:off x="714375" y="4229100"/>
            <a:ext cx="10477500" cy="9525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3DC3441-C7F5-4B7D-8A9B-2889D9976160}"/>
              </a:ext>
            </a:extLst>
          </p:cNvPr>
          <p:cNvSpPr>
            <a:spLocks noGrp="1"/>
          </p:cNvSpPr>
          <p:nvPr/>
        </p:nvSpPr>
        <p:spPr>
          <a:xfrm>
            <a:off x="714375" y="449580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Capture 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6473E2B-C455-4894-A6D5-264031F9BD3E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11"/>
          </a:bodyPr>
          <a:lstStyle>
            <a:defPPr algn="l">
              <a:defRPr sz="1650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D3F2"/>
                </a:solidFill>
                <a:latin typeface="Arial"/>
                <a:ea typeface="Arial"/>
                <a:cs typeface="Arial"/>
              </a:rPr>
              <a:t>30 applications  •  34,170 HAR requests  •  application, third-party, Android-system and unknown traffic classes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4296125-B2E6-4E62-9DDC-A0838C4DBA85}"/>
              </a:ext>
            </a:extLst>
          </p:cNvPr>
          <p:cNvSpPr>
            <a:spLocks noGrp="1"/>
          </p:cNvSpPr>
          <p:nvPr/>
        </p:nvSpPr>
        <p:spPr>
          <a:xfrm>
            <a:off x="714375" y="56483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 capture proves what appeared during the tested session. It cannot prove that unobserved behavior never occurs.</a:t>
            </a:r>
          </a:p>
        </p:txBody>
      </p:sp>
    </p:spTree>
    <p:extLst>
      <p:ext uri="{BB962C8B-B14F-4D97-AF65-F5344CB8AC3E}">
        <p14:creationId xmlns:p14="http://schemas.microsoft.com/office/powerpoint/2010/main" val="44527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F3F538FF-9458-4F81-A427-4E69316CE9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08A89A9-9D33-41BB-ACBB-00D8850F649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Framework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EFE233C-EF5E-46B8-9B91-4838DECF96C6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FDE6447-C101-49F2-8FF9-ED365CB488EA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7FD0DF6-D36A-4745-A09B-29EB31952901}"/>
              </a:ext>
            </a:extLst>
          </p:cNvPr>
          <p:cNvSpPr>
            <a:spLocks noGrp="1"/>
          </p:cNvSpPr>
          <p:nvPr/>
        </p:nvSpPr>
        <p:spPr>
          <a:xfrm>
            <a:off x="1257300" y="1428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HAR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FD21B1F-E46B-4660-96CD-59D51C9AD441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238500" cy="28575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C4AE47-7FFD-4D62-80DD-FB1A6F648281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Requests, responses, headers, cookies and bodies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85DF347-9F41-40D3-BDE8-46FE7FF5F2F6}"/>
              </a:ext>
            </a:extLst>
          </p:cNvPr>
          <p:cNvSpPr>
            <a:spLocks noGrp="1"/>
          </p:cNvSpPr>
          <p:nvPr/>
        </p:nvSpPr>
        <p:spPr>
          <a:xfrm>
            <a:off x="4495800" y="1428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FBE07D3-BEB9-4F51-A7E1-F26A74780A68}"/>
              </a:ext>
            </a:extLst>
          </p:cNvPr>
          <p:cNvSpPr>
            <a:spLocks noGrp="1"/>
          </p:cNvSpPr>
          <p:nvPr/>
        </p:nvSpPr>
        <p:spPr>
          <a:xfrm>
            <a:off x="5048250" y="1428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Lossless extraction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C90A53B-C97C-442E-A254-F9537D1F3F80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3238500" cy="28575"/>
          </a:xfrm>
          <a:prstGeom prst="rect">
            <a:avLst/>
          </a:prstGeom>
          <a:solidFill>
            <a:srgbClr val="5C8D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52F13F6-51E1-4A61-B7C5-5B8C50C3D605}"/>
              </a:ext>
            </a:extLst>
          </p:cNvPr>
          <p:cNvSpPr>
            <a:spLocks noGrp="1"/>
          </p:cNvSpPr>
          <p:nvPr/>
        </p:nvSpPr>
        <p:spPr>
          <a:xfrm>
            <a:off x="4495800" y="211455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Duplicates, encodings and body metadata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79414DA-1741-43A2-A150-EDF13AE51A47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01C2DFB-5AF6-4D47-865A-56BEC5A4F033}"/>
              </a:ext>
            </a:extLst>
          </p:cNvPr>
          <p:cNvSpPr>
            <a:spLocks noGrp="1"/>
          </p:cNvSpPr>
          <p:nvPr/>
        </p:nvSpPr>
        <p:spPr>
          <a:xfrm>
            <a:off x="8839200" y="1428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Traffic ownership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055188F-2D6E-4C3A-92CE-7C3281F0B131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38500" cy="28575"/>
          </a:xfrm>
          <a:prstGeom prst="rect">
            <a:avLst/>
          </a:prstGeom>
          <a:solidFill>
            <a:srgbClr val="A88BFF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DC76082-C2F0-4869-8479-7D8A59E79F74}"/>
              </a:ext>
            </a:extLst>
          </p:cNvPr>
          <p:cNvSpPr>
            <a:spLocks noGrp="1"/>
          </p:cNvSpPr>
          <p:nvPr/>
        </p:nvSpPr>
        <p:spPr>
          <a:xfrm>
            <a:off x="8286750" y="211455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Application, third party, Android or unknown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74AB054-95B2-4F1E-AA81-D1F8CEA97407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E9CFE2C7-8370-4A8C-94F7-EF7D6C8589BC}"/>
              </a:ext>
            </a:extLst>
          </p:cNvPr>
          <p:cNvSpPr>
            <a:spLocks noGrp="1"/>
          </p:cNvSpPr>
          <p:nvPr/>
        </p:nvSpPr>
        <p:spPr>
          <a:xfrm>
            <a:off x="1257300" y="36957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Sensitive detection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9C52093-2A50-494F-84C5-5773DCCB2FE8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3238500" cy="28575"/>
          </a:xfrm>
          <a:prstGeom prst="rect">
            <a:avLst/>
          </a:prstGeom>
          <a:solidFill>
            <a:srgbClr val="2DE3A3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E42910C0-EC71-4C96-AC38-A6CC70837284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Structured text, binary protocols and multipart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DB54F93D-FB41-4E13-8F79-6FE54249B8EB}"/>
              </a:ext>
            </a:extLst>
          </p:cNvPr>
          <p:cNvSpPr>
            <a:spLocks noGrp="1"/>
          </p:cNvSpPr>
          <p:nvPr/>
        </p:nvSpPr>
        <p:spPr>
          <a:xfrm>
            <a:off x="4495800" y="36957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6ADA4DC-D42A-49F7-BFD5-1A5DB88E750F}"/>
              </a:ext>
            </a:extLst>
          </p:cNvPr>
          <p:cNvSpPr>
            <a:spLocks noGrp="1"/>
          </p:cNvSpPr>
          <p:nvPr/>
        </p:nvSpPr>
        <p:spPr>
          <a:xfrm>
            <a:off x="5048250" y="36957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Evidence inventory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FAAADE9-09D2-402B-89EA-16EAFA2E6E8C}"/>
              </a:ext>
            </a:extLst>
          </p:cNvPr>
          <p:cNvSpPr>
            <a:spLocks noGrp="1"/>
          </p:cNvSpPr>
          <p:nvPr/>
        </p:nvSpPr>
        <p:spPr>
          <a:xfrm>
            <a:off x="4495800" y="4191000"/>
            <a:ext cx="3238500" cy="28575"/>
          </a:xfrm>
          <a:prstGeom prst="rect">
            <a:avLst/>
          </a:prstGeom>
          <a:solidFill>
            <a:srgbClr val="F3B63E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E1818489-6782-4478-A949-B86138FB5329}"/>
              </a:ext>
            </a:extLst>
          </p:cNvPr>
          <p:cNvSpPr>
            <a:spLocks noGrp="1"/>
          </p:cNvSpPr>
          <p:nvPr/>
        </p:nvSpPr>
        <p:spPr>
          <a:xfrm>
            <a:off x="4495800" y="438150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Type, category, source, direction, key and domain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AA0A4773-CFD9-43FB-8546-E4236B26F1EE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473"/>
          </a:bodyPr>
          <a:lstStyle>
            <a:defPPr algn="l">
              <a:defRPr sz="210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C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69D103F-F2DF-449B-9242-4A4BC797EEB9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Policy comparison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07E94A2-BF31-40E4-AE4E-804A0535DB59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3238500" cy="28575"/>
          </a:xfrm>
          <a:prstGeom prst="rect">
            <a:avLst/>
          </a:prstGeom>
          <a:solidFill>
            <a:srgbClr val="FF5C85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E6FEAF25-8FE8-47C8-99C9-9C8BCFF7E225}"/>
              </a:ext>
            </a:extLst>
          </p:cNvPr>
          <p:cNvSpPr>
            <a:spLocks noGrp="1"/>
          </p:cNvSpPr>
          <p:nvPr/>
        </p:nvSpPr>
        <p:spPr>
          <a:xfrm>
            <a:off x="8286750" y="438150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Disclosed, not disclosed or policy check incomplete</a:t>
            </a:r>
          </a:p>
        </p:txBody>
      </p:sp>
    </p:spTree>
    <p:extLst>
      <p:ext uri="{BB962C8B-B14F-4D97-AF65-F5344CB8AC3E}">
        <p14:creationId xmlns:p14="http://schemas.microsoft.com/office/powerpoint/2010/main" val="146700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610D8D6-A061-459D-A896-58F76F9F9E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BF1B64F-243C-4FDD-9199-952CCF2883E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Sensitive-data detection coverage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6C7548E-CBD1-4E76-9CC9-C2DEB936D419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7E77CF7-A050-420E-BF8D-D8E6B68B441E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Supported traffic representations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1C3E911-BB22-458A-9955-754120DCB61F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5095875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>
            <a:defPPr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URL paths and duplicate query parameters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Request and response headers and cookies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Nested JSON and JSON embedded in query or cookie values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Form data, multipart mixed and multipart related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Base64, Base64url, gzip and deflate with strict limits</a:t>
            </a:r>
          </a:p>
          <a:p>
            <a:pPr marL="228600" indent="-114300">
              <a:spcAft>
                <a:spcPts val="8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Raw protobuf and multi-frame gRPC payloads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CAD7E82-3720-49E5-A500-A1FAB93A3BE8}"/>
              </a:ext>
            </a:extLst>
          </p:cNvPr>
          <p:cNvSpPr>
            <a:spLocks noGrp="1"/>
          </p:cNvSpPr>
          <p:nvPr/>
        </p:nvSpPr>
        <p:spPr>
          <a:xfrm>
            <a:off x="6191250" y="1352550"/>
            <a:ext cx="38100" cy="39052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A962AF9-C724-4DD6-8821-FFAAB20C070E}"/>
              </a:ext>
            </a:extLst>
          </p:cNvPr>
          <p:cNvSpPr>
            <a:spLocks noGrp="1"/>
          </p:cNvSpPr>
          <p:nvPr/>
        </p:nvSpPr>
        <p:spPr>
          <a:xfrm>
            <a:off x="6667500" y="13335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Detected information families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C4DF71B-5D49-47B1-AA1F-475178E5A6CD}"/>
              </a:ext>
            </a:extLst>
          </p:cNvPr>
          <p:cNvSpPr>
            <a:spLocks noGrp="1"/>
          </p:cNvSpPr>
          <p:nvPr/>
        </p:nvSpPr>
        <p:spPr>
          <a:xfrm>
            <a:off x="6667500" y="19240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 algn="l">
              <a:defRPr sz="142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Personal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23A1904-77AF-4FD2-B73B-D22975B397E4}"/>
              </a:ext>
            </a:extLst>
          </p:cNvPr>
          <p:cNvSpPr>
            <a:spLocks noGrp="1"/>
          </p:cNvSpPr>
          <p:nvPr/>
        </p:nvSpPr>
        <p:spPr>
          <a:xfrm>
            <a:off x="8172450" y="19240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25"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email, phone, name, address, date of birth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2DCFB0A-D657-4E90-B853-344EB4E982AF}"/>
              </a:ext>
            </a:extLst>
          </p:cNvPr>
          <p:cNvSpPr>
            <a:spLocks noGrp="1"/>
          </p:cNvSpPr>
          <p:nvPr/>
        </p:nvSpPr>
        <p:spPr>
          <a:xfrm>
            <a:off x="6667500" y="26098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 algn="l">
              <a:defRPr sz="1425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Identifiers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DE18DDC-FB8C-4D56-B54E-45D8E9193DD0}"/>
              </a:ext>
            </a:extLst>
          </p:cNvPr>
          <p:cNvSpPr>
            <a:spLocks noGrp="1"/>
          </p:cNvSpPr>
          <p:nvPr/>
        </p:nvSpPr>
        <p:spPr>
          <a:xfrm>
            <a:off x="8172450" y="26098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device ID, user ID, advertising 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5F1B401-8D75-44C4-BC2D-0F95BB41D526}"/>
              </a:ext>
            </a:extLst>
          </p:cNvPr>
          <p:cNvSpPr>
            <a:spLocks noGrp="1"/>
          </p:cNvSpPr>
          <p:nvPr/>
        </p:nvSpPr>
        <p:spPr>
          <a:xfrm>
            <a:off x="6667500" y="32956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 algn="l">
              <a:defRPr sz="1425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E9950AC-8116-4BF9-93B5-884A194BB4D4}"/>
              </a:ext>
            </a:extLst>
          </p:cNvPr>
          <p:cNvSpPr>
            <a:spLocks noGrp="1"/>
          </p:cNvSpPr>
          <p:nvPr/>
        </p:nvSpPr>
        <p:spPr>
          <a:xfrm>
            <a:off x="8172450" y="32956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latitude and longitude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7BFD8B9-1232-4002-9754-EE32796D0348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 algn="l">
              <a:defRPr sz="1425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8D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A5EFED-E084-4F41-B119-3C1314F95BBB}"/>
              </a:ext>
            </a:extLst>
          </p:cNvPr>
          <p:cNvSpPr>
            <a:spLocks noGrp="1"/>
          </p:cNvSpPr>
          <p:nvPr/>
        </p:nvSpPr>
        <p:spPr>
          <a:xfrm>
            <a:off x="8172450" y="39814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IP address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A68FB76-0744-479F-9C9D-25953EA1203C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 algn="l">
              <a:defRPr sz="1425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E43467A-5170-49D9-BEEE-F253B983EED8}"/>
              </a:ext>
            </a:extLst>
          </p:cNvPr>
          <p:cNvSpPr>
            <a:spLocks noGrp="1"/>
          </p:cNvSpPr>
          <p:nvPr/>
        </p:nvSpPr>
        <p:spPr>
          <a:xfrm>
            <a:off x="8172450" y="46672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81"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tokens, cookies, CSRF and API credentials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32909AA-7BDF-4EF7-AF9E-83EFE2A76237}"/>
              </a:ext>
            </a:extLst>
          </p:cNvPr>
          <p:cNvSpPr>
            <a:spLocks noGrp="1"/>
          </p:cNvSpPr>
          <p:nvPr/>
        </p:nvSpPr>
        <p:spPr>
          <a:xfrm>
            <a:off x="666750" y="556260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Conservative rules reduce false positives: no image inspection, no arbitrary numeric-phone inference and no semantic guesses from opaque binary data.</a:t>
            </a:r>
          </a:p>
        </p:txBody>
      </p:sp>
    </p:spTree>
    <p:extLst>
      <p:ext uri="{BB962C8B-B14F-4D97-AF65-F5344CB8AC3E}">
        <p14:creationId xmlns:p14="http://schemas.microsoft.com/office/powerpoint/2010/main" val="199664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72C35E8-1B89-41CE-A72E-1A6F62AB67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CEDC16E-DC16-4A96-852D-E2187C6304E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Policy comparison and interpretation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C4890D2-A75F-46BB-B8F4-1EDD40A4609E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1C1B68E-954D-4195-8211-A71F490C6C82}"/>
              </a:ext>
            </a:extLst>
          </p:cNvPr>
          <p:cNvSpPr>
            <a:spLocks noGrp="1"/>
          </p:cNvSpPr>
          <p:nvPr/>
        </p:nvSpPr>
        <p:spPr>
          <a:xfrm>
            <a:off x="685800" y="1419225"/>
            <a:ext cx="95250" cy="571500"/>
          </a:xfrm>
          <a:prstGeom prst="rect">
            <a:avLst/>
          </a:prstGeom>
          <a:solidFill>
            <a:srgbClr val="2DE3A3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DEC264A-F7E3-402B-A565-F41C0C506536}"/>
              </a:ext>
            </a:extLst>
          </p:cNvPr>
          <p:cNvSpPr>
            <a:spLocks noGrp="1"/>
          </p:cNvSpPr>
          <p:nvPr/>
        </p:nvSpPr>
        <p:spPr>
          <a:xfrm>
            <a:off x="1009650" y="13525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6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IN POLICY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31F7075-8869-4CEF-9369-5A0AFBFDB8C4}"/>
              </a:ext>
            </a:extLst>
          </p:cNvPr>
          <p:cNvSpPr>
            <a:spLocks noGrp="1"/>
          </p:cNvSpPr>
          <p:nvPr/>
        </p:nvSpPr>
        <p:spPr>
          <a:xfrm>
            <a:off x="4191000" y="13525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Observed information type appears explicitly in the reviewed policy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B979AE2-BFE5-420C-A22B-F59EA2ABE41A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95250" cy="571500"/>
          </a:xfrm>
          <a:prstGeom prst="rect">
            <a:avLst/>
          </a:prstGeom>
          <a:solidFill>
            <a:srgbClr val="FF5C85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14C0CED-F633-4CF1-BACA-C67A06E60401}"/>
              </a:ext>
            </a:extLst>
          </p:cNvPr>
          <p:cNvSpPr>
            <a:spLocks noGrp="1"/>
          </p:cNvSpPr>
          <p:nvPr/>
        </p:nvSpPr>
        <p:spPr>
          <a:xfrm>
            <a:off x="1009650" y="22288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6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5C85"/>
                </a:solidFill>
                <a:latin typeface="Arial"/>
                <a:ea typeface="Arial"/>
                <a:cs typeface="Arial"/>
              </a:rPr>
              <a:t>NOT IN POLICY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CA02288-1573-40A1-8C28-5ABAFCA2D19A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Observed comparable type is absent from a completed policy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FBBF607-27C2-45C7-925F-4DE8E6CF5526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95250" cy="571500"/>
          </a:xfrm>
          <a:prstGeom prst="rect">
            <a:avLst/>
          </a:prstGeom>
          <a:solidFill>
            <a:srgbClr val="F3B6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58CD378-61B3-4A66-8EDB-F5B43961DEC2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11"/>
          </a:bodyPr>
          <a:lstStyle>
            <a:defPPr algn="l">
              <a:defRPr sz="16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POLICY CHECK INCOMPLETE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4F9D513-4E09-483E-85CE-CBDF5DEEFED3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The local policy representation cannot support an absence claim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D2ADB9F-22CF-4406-B2A8-19ED7428A11A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95250" cy="5715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F94056-FAFA-433A-8EB3-7B3CF4DB1CDF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6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TECHNICAL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151FE3F-6956-45BE-9D5E-DCDEF30063C5}"/>
              </a:ext>
            </a:extLst>
          </p:cNvPr>
          <p:cNvSpPr>
            <a:spLocks noGrp="1"/>
          </p:cNvSpPr>
          <p:nvPr/>
        </p:nvSpPr>
        <p:spPr>
          <a:xfrm>
            <a:off x="41910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Authorization tokens and session cookies remain visible but do not create dashboard policy gaps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407AC11-908C-4A39-8228-BA803F87627D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95250" cy="571500"/>
          </a:xfrm>
          <a:prstGeom prst="rect">
            <a:avLst/>
          </a:prstGeom>
          <a:solidFill>
            <a:srgbClr val="A88BFF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89AD512-F837-430C-8961-FD2150731654}"/>
              </a:ext>
            </a:extLst>
          </p:cNvPr>
          <p:cNvSpPr>
            <a:spLocks noGrp="1"/>
          </p:cNvSpPr>
          <p:nvPr/>
        </p:nvSpPr>
        <p:spPr>
          <a:xfrm>
            <a:off x="1009650" y="48577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65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RISK SIGNAL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9489C72-EBC7-40F7-BD36-2F3BA103E498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Sensitive data in a URL is reported independently from policy disclosure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599B4C2-03D3-4631-B634-C9959995EF61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Result labels describe capture-scoped policy evidence. They do not constitute a legal compliance determination.</a:t>
            </a:r>
          </a:p>
        </p:txBody>
      </p:sp>
    </p:spTree>
    <p:extLst>
      <p:ext uri="{BB962C8B-B14F-4D97-AF65-F5344CB8AC3E}">
        <p14:creationId xmlns:p14="http://schemas.microsoft.com/office/powerpoint/2010/main" val="94204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A640FEC-9AF6-407E-B000-32E260974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0793835-2692-45EC-818F-E7C63E8244A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Results across 30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F5B96C9-5075-4323-A40B-B32969462C0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Dashboard presentation after excluding routine authentication artifacts from policy-gap counts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E5B28D3-D54F-47BD-956F-DFD1C0425969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087CFAD-5DF2-4519-8CF1-256C33CC00E3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2000250" cy="47625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F41B6C7-60EF-4BB0-8795-26CDD215FBB8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5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34,170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44B26C1-3CDD-437E-8D48-9355BEAF8E62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HAR requests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2B13209-8C0D-4958-B037-0B45E8DCC4A3}"/>
              </a:ext>
            </a:extLst>
          </p:cNvPr>
          <p:cNvSpPr>
            <a:spLocks noGrp="1"/>
          </p:cNvSpPr>
          <p:nvPr/>
        </p:nvSpPr>
        <p:spPr>
          <a:xfrm>
            <a:off x="2952750" y="1257300"/>
            <a:ext cx="2286000" cy="47625"/>
          </a:xfrm>
          <a:prstGeom prst="rect">
            <a:avLst/>
          </a:prstGeom>
          <a:solidFill>
            <a:srgbClr val="5C8D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01A5CCE-7571-4423-9924-B4111387E65C}"/>
              </a:ext>
            </a:extLst>
          </p:cNvPr>
          <p:cNvSpPr>
            <a:spLocks noGrp="1"/>
          </p:cNvSpPr>
          <p:nvPr/>
        </p:nvSpPr>
        <p:spPr>
          <a:xfrm>
            <a:off x="2952750" y="1381125"/>
            <a:ext cx="2286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55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5C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C8DFF"/>
                </a:solidFill>
                <a:latin typeface="Arial"/>
                <a:ea typeface="Arial"/>
                <a:cs typeface="Arial"/>
              </a:rPr>
              <a:t>84,692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13D97E1-654E-4DCB-8713-13BEA5D0EA55}"/>
              </a:ext>
            </a:extLst>
          </p:cNvPr>
          <p:cNvSpPr>
            <a:spLocks noGrp="1"/>
          </p:cNvSpPr>
          <p:nvPr/>
        </p:nvSpPr>
        <p:spPr>
          <a:xfrm>
            <a:off x="2952750" y="1905000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sensitive occurrences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A0450A3-6AF8-409B-BBEC-7D42522D9ED7}"/>
              </a:ext>
            </a:extLst>
          </p:cNvPr>
          <p:cNvSpPr>
            <a:spLocks noGrp="1"/>
          </p:cNvSpPr>
          <p:nvPr/>
        </p:nvSpPr>
        <p:spPr>
          <a:xfrm>
            <a:off x="5524500" y="1257300"/>
            <a:ext cx="2000250" cy="47625"/>
          </a:xfrm>
          <a:prstGeom prst="rect">
            <a:avLst/>
          </a:prstGeom>
          <a:solidFill>
            <a:srgbClr val="A88BF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26B9CD7-4B67-4BB1-8FB6-835542194E30}"/>
              </a:ext>
            </a:extLst>
          </p:cNvPr>
          <p:cNvSpPr>
            <a:spLocks noGrp="1"/>
          </p:cNvSpPr>
          <p:nvPr/>
        </p:nvSpPr>
        <p:spPr>
          <a:xfrm>
            <a:off x="5524500" y="138112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55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5,354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341132B-FAD7-4D71-9CBF-6F239F76DE14}"/>
              </a:ext>
            </a:extLst>
          </p:cNvPr>
          <p:cNvSpPr>
            <a:spLocks noGrp="1"/>
          </p:cNvSpPr>
          <p:nvPr/>
        </p:nvSpPr>
        <p:spPr>
          <a:xfrm>
            <a:off x="5524500" y="19050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unique artifacts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CAC829D-B399-4778-807B-8A220A41A81E}"/>
              </a:ext>
            </a:extLst>
          </p:cNvPr>
          <p:cNvSpPr>
            <a:spLocks noGrp="1"/>
          </p:cNvSpPr>
          <p:nvPr/>
        </p:nvSpPr>
        <p:spPr>
          <a:xfrm>
            <a:off x="7810500" y="1257300"/>
            <a:ext cx="1905000" cy="47625"/>
          </a:xfrm>
          <a:prstGeom prst="rect">
            <a:avLst/>
          </a:prstGeom>
          <a:solidFill>
            <a:srgbClr val="F3B63E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9D16A1F-6988-48E2-B5F4-D7C7AEFFD368}"/>
              </a:ext>
            </a:extLst>
          </p:cNvPr>
          <p:cNvSpPr>
            <a:spLocks noGrp="1"/>
          </p:cNvSpPr>
          <p:nvPr/>
        </p:nvSpPr>
        <p:spPr>
          <a:xfrm>
            <a:off x="7810500" y="1381125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5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EE792C0-25AB-47C1-A150-00488389B54F}"/>
              </a:ext>
            </a:extLst>
          </p:cNvPr>
          <p:cNvSpPr>
            <a:spLocks noGrp="1"/>
          </p:cNvSpPr>
          <p:nvPr/>
        </p:nvSpPr>
        <p:spPr>
          <a:xfrm>
            <a:off x="7810500" y="190500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URL risk signals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053CDCB5-B299-49AF-9C1C-9748994BB0EF}"/>
              </a:ext>
            </a:extLst>
          </p:cNvPr>
          <p:cNvSpPr>
            <a:spLocks noGrp="1"/>
          </p:cNvSpPr>
          <p:nvPr/>
        </p:nvSpPr>
        <p:spPr>
          <a:xfrm>
            <a:off x="10001250" y="1257300"/>
            <a:ext cx="1428750" cy="47625"/>
          </a:xfrm>
          <a:prstGeom prst="rect">
            <a:avLst/>
          </a:prstGeom>
          <a:solidFill>
            <a:srgbClr val="2DE3A3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CDFFFDE-E0D1-4F6D-A46C-4C1E4B535E35}"/>
              </a:ext>
            </a:extLst>
          </p:cNvPr>
          <p:cNvSpPr>
            <a:spLocks noGrp="1"/>
          </p:cNvSpPr>
          <p:nvPr/>
        </p:nvSpPr>
        <p:spPr>
          <a:xfrm>
            <a:off x="10001250" y="1381125"/>
            <a:ext cx="1428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5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9AD86C4-696D-4E54-9A1B-80A9A0AC38AA}"/>
              </a:ext>
            </a:extLst>
          </p:cNvPr>
          <p:cNvSpPr>
            <a:spLocks noGrp="1"/>
          </p:cNvSpPr>
          <p:nvPr/>
        </p:nvSpPr>
        <p:spPr>
          <a:xfrm>
            <a:off x="10001250" y="1905000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graphicFrame>
        <p:nvGraphicFramePr>
          <p:cNvPr id="20" name="Chart">
            <a:extLst>
              <a:ext uri="{FF2B5EF4-FFF2-40B4-BE49-F238E27FC236}">
                <a16:creationId xmlns:a16="http://schemas.microsoft.com/office/drawing/2014/main" xmlns="" id="{EB3A9A36-20BC-4D8A-B86F-F24EEA5FA8F7}"/>
              </a:ext>
            </a:extLst>
          </p:cNvPr>
          <p:cNvGraphicFramePr/>
          <p:nvPr/>
        </p:nvGraphicFramePr>
        <p:xfrm>
          <a:off x="857250" y="2857500"/>
          <a:ext cx="6667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D870E36-C5C0-4EA7-B0F0-D6500480EC50}"/>
              </a:ext>
            </a:extLst>
          </p:cNvPr>
          <p:cNvSpPr>
            <a:spLocks noGrp="1"/>
          </p:cNvSpPr>
          <p:nvPr/>
        </p:nvSpPr>
        <p:spPr>
          <a:xfrm>
            <a:off x="7620000" y="3171825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51"/>
          </a:bodyPr>
          <a:lstStyle>
            <a:defPPr algn="ctr">
              <a:defRPr sz="34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4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pPr>
            <a:r>
              <a:rPr sz="3450" b="1" dirty="0">
                <a:solidFill>
                  <a:srgbClr val="FF5C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E038D46-A3F2-4CCB-A5A4-CE50C4F5D012}"/>
              </a:ext>
            </a:extLst>
          </p:cNvPr>
          <p:cNvSpPr>
            <a:spLocks noGrp="1"/>
          </p:cNvSpPr>
          <p:nvPr/>
        </p:nvSpPr>
        <p:spPr>
          <a:xfrm>
            <a:off x="7176120" y="3781425"/>
            <a:ext cx="2381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19"/>
          </a:bodyPr>
          <a:lstStyle>
            <a:defPPr algn="ctr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apps with at least one comparable type absent from a completed policy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343173B-CDA1-45CE-BBE6-C880088D3EDE}"/>
              </a:ext>
            </a:extLst>
          </p:cNvPr>
          <p:cNvSpPr>
            <a:spLocks noGrp="1"/>
          </p:cNvSpPr>
          <p:nvPr/>
        </p:nvSpPr>
        <p:spPr>
          <a:xfrm>
            <a:off x="10287000" y="3171825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51"/>
          </a:bodyPr>
          <a:lstStyle>
            <a:defPPr algn="ctr">
              <a:defRPr sz="34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4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B7475419-3730-47AB-AC68-3A792E9DC784}"/>
              </a:ext>
            </a:extLst>
          </p:cNvPr>
          <p:cNvSpPr>
            <a:spLocks noGrp="1"/>
          </p:cNvSpPr>
          <p:nvPr/>
        </p:nvSpPr>
        <p:spPr>
          <a:xfrm>
            <a:off x="9953625" y="3781425"/>
            <a:ext cx="1809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03"/>
          </a:bodyPr>
          <a:lstStyle>
            <a:defPPr algn="ctr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apps where all observed comparable types were disclosed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06835AE-7E99-414F-9E18-DAD476C6B5AC}"/>
              </a:ext>
            </a:extLst>
          </p:cNvPr>
          <p:cNvSpPr>
            <a:spLocks noGrp="1"/>
          </p:cNvSpPr>
          <p:nvPr/>
        </p:nvSpPr>
        <p:spPr>
          <a:xfrm>
            <a:off x="7953375" y="5162550"/>
            <a:ext cx="36671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ctr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All results remain limited to the captured workflows and reviewed policy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881230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6737FAE-3212-4455-950D-32DEDDCB47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E986547-3EA4-4308-B296-E8F8818661A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Observed sensitive-data categories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5576342-805D-480B-A4BC-3C6AC66E8A9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Counts include request and attributable response evidence across the capture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58CA1CB-B28F-47E7-8D5E-FDF1C1E1F1BF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xmlns="" id="{0CE949EF-AA0A-4DF5-93A9-52876B8FB879}"/>
              </a:ext>
            </a:extLst>
          </p:cNvPr>
          <p:cNvGraphicFramePr/>
          <p:nvPr/>
        </p:nvGraphicFramePr>
        <p:xfrm>
          <a:off x="571500" y="1257300"/>
          <a:ext cx="78105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54C5F34-5B12-4D6E-BE34-BAACC1576D90}"/>
              </a:ext>
            </a:extLst>
          </p:cNvPr>
          <p:cNvSpPr>
            <a:spLocks noGrp="1"/>
          </p:cNvSpPr>
          <p:nvPr/>
        </p:nvSpPr>
        <p:spPr>
          <a:xfrm>
            <a:off x="8858250" y="15430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7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Main observation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F40CB05-5E71-47CD-B314-4379F963C6BA}"/>
              </a:ext>
            </a:extLst>
          </p:cNvPr>
          <p:cNvSpPr>
            <a:spLocks noGrp="1"/>
          </p:cNvSpPr>
          <p:nvPr/>
        </p:nvSpPr>
        <p:spPr>
          <a:xfrm>
            <a:off x="8858250" y="2019300"/>
            <a:ext cx="25717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66" lnSpcReduction="20000"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Personal information, authentication artifacts, location and device identifiers dominate the captured evidence.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DF7EC83-EB35-4CDF-AFD6-63C2F209C499}"/>
              </a:ext>
            </a:extLst>
          </p:cNvPr>
          <p:cNvSpPr>
            <a:spLocks noGrp="1"/>
          </p:cNvSpPr>
          <p:nvPr/>
        </p:nvSpPr>
        <p:spPr>
          <a:xfrm>
            <a:off x="8858250" y="3857625"/>
            <a:ext cx="25717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342"/>
          </a:bodyPr>
          <a:lstStyle>
            <a:defPPr algn="l">
              <a:defRPr sz="14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Technical categories stay visible for evidence review, but Security and API Credentials do not automatically create policy mismatches.</a:t>
            </a:r>
          </a:p>
        </p:txBody>
      </p:sp>
    </p:spTree>
    <p:extLst>
      <p:ext uri="{BB962C8B-B14F-4D97-AF65-F5344CB8AC3E}">
        <p14:creationId xmlns:p14="http://schemas.microsoft.com/office/powerpoint/2010/main" val="399065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498CFAA-D143-4C81-B636-88A10A24C4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AD78D08-8E55-409D-97A5-3774FFB2460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Network transmission risk signals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326F94D-88B6-48D2-9D71-044F9DDB8AA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Channel risk is independent from policy disclosure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ED3D1BF-BC2D-4F3A-8BE0-B712B58BDD19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828F21E-1184-46B9-BFDC-E003FDEB6C6D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714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ctr">
              <a:defRPr sz="46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65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4EE32F7-59B1-4C7B-AE4D-38956608219E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02" lnSpcReduction="10000"/>
          </a:bodyPr>
          <a:lstStyle>
            <a:def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applications with personal data observed in a URL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4EBC710-9EB7-4FAA-9EDB-2A0ED9D06593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1714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ctr">
              <a:defRPr sz="46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650" b="1">
                <a:solidFill>
                  <a:srgbClr val="FF5C8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5C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8905561-6FC3-4DBA-BDE8-D8C1A3E6914A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02" lnSpcReduction="10000"/>
          </a:bodyPr>
          <a:lstStyle>
            <a:def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applications with a credential observed in a URL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F0D028C-E162-4013-8AF9-4D23A33DF7A1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38100" cy="37147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41A051C-5F48-4146-9221-F46890FACB73}"/>
              </a:ext>
            </a:extLst>
          </p:cNvPr>
          <p:cNvSpPr>
            <a:spLocks noGrp="1"/>
          </p:cNvSpPr>
          <p:nvPr/>
        </p:nvSpPr>
        <p:spPr>
          <a:xfrm>
            <a:off x="6858000" y="15240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191"/>
          </a:bodyPr>
          <a:lstStyle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Why URLs receive separate treatment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486E5DB-4F88-4CCE-8EA9-CA3858ACD602}"/>
              </a:ext>
            </a:extLst>
          </p:cNvPr>
          <p:cNvSpPr>
            <a:spLocks noGrp="1"/>
          </p:cNvSpPr>
          <p:nvPr/>
        </p:nvSpPr>
        <p:spPr>
          <a:xfrm>
            <a:off x="6819900" y="21717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>
            <a:defPPr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URLs can appear in logs, browser history and monitoring systems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A policy may disclose the data type without explaining the transmission channel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signal requests technical review rather than proving a policy violation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92B77BF-9320-4A56-9CD0-47E683B728EE}"/>
              </a:ext>
            </a:extLst>
          </p:cNvPr>
          <p:cNvSpPr>
            <a:spLocks noGrp="1"/>
          </p:cNvSpPr>
          <p:nvPr/>
        </p:nvSpPr>
        <p:spPr>
          <a:xfrm>
            <a:off x="6858000" y="4438650"/>
            <a:ext cx="4476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2"/>
          </a:bodyPr>
          <a:lstStyle>
            <a:defPPr algn="l">
              <a:defRPr sz="1500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D3F2"/>
                </a:solidFill>
                <a:latin typeface="Arial"/>
                <a:ea typeface="Arial"/>
                <a:cs typeface="Arial"/>
              </a:rPr>
              <a:t>Example: Truecaller transmitted phone-number evidence in query parameters and gRPC bodies; two URL evidence items produced a medium risk signal.</a:t>
            </a:r>
          </a:p>
        </p:txBody>
      </p:sp>
    </p:spTree>
    <p:extLst>
      <p:ext uri="{BB962C8B-B14F-4D97-AF65-F5344CB8AC3E}">
        <p14:creationId xmlns:p14="http://schemas.microsoft.com/office/powerpoint/2010/main" val="827169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174F435F-3FEA-417F-B3C5-996D6A71E9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5B20F91-5D81-46CA-9BDD-FA41CBF7EA6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Case study: Truecaller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1A2AAEB-198D-49D7-95B0-E1A9B7FA14A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184 requests, 216 sensitive occurrences and 8 unique artifacts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F4BFC71-640F-464A-9E2C-151AB0E5730C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FB13AE0-67DA-4455-AF48-09FC93369163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Observed outbound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953DDF-8831-4EB2-A99D-98DFA335DEB2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4349AD1-3B5B-4D09-A305-209214B83286}"/>
              </a:ext>
            </a:extLst>
          </p:cNvPr>
          <p:cNvSpPr>
            <a:spLocks noGrp="1"/>
          </p:cNvSpPr>
          <p:nvPr/>
        </p:nvSpPr>
        <p:spPr>
          <a:xfrm>
            <a:off x="3143250" y="18478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3862D29-7B98-4A13-8825-0E76103AE39C}"/>
              </a:ext>
            </a:extLst>
          </p:cNvPr>
          <p:cNvSpPr>
            <a:spLocks noGrp="1"/>
          </p:cNvSpPr>
          <p:nvPr/>
        </p:nvSpPr>
        <p:spPr>
          <a:xfrm>
            <a:off x="4048125" y="18478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801C168-E94C-4375-B57F-A56EACEEA682}"/>
              </a:ext>
            </a:extLst>
          </p:cNvPr>
          <p:cNvSpPr>
            <a:spLocks noGrp="1"/>
          </p:cNvSpPr>
          <p:nvPr/>
        </p:nvSpPr>
        <p:spPr>
          <a:xfrm>
            <a:off x="5715000" y="18478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24503B3-1C00-475B-AF1C-73E84B3BDD0F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6762750" cy="1905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C6E523F-95A4-4691-8233-98F5F1C3070B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Authorization token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EF1C625-289B-49DB-9B2C-AABA7751D0A6}"/>
              </a:ext>
            </a:extLst>
          </p:cNvPr>
          <p:cNvSpPr>
            <a:spLocks noGrp="1"/>
          </p:cNvSpPr>
          <p:nvPr/>
        </p:nvSpPr>
        <p:spPr>
          <a:xfrm>
            <a:off x="3143250" y="2305050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5A7ECD3-530C-436F-AC54-F35399F2269C}"/>
              </a:ext>
            </a:extLst>
          </p:cNvPr>
          <p:cNvSpPr>
            <a:spLocks noGrp="1"/>
          </p:cNvSpPr>
          <p:nvPr/>
        </p:nvSpPr>
        <p:spPr>
          <a:xfrm>
            <a:off x="4048125" y="23050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91176FF-7C5D-4BA2-8655-2A8B1259CD6F}"/>
              </a:ext>
            </a:extLst>
          </p:cNvPr>
          <p:cNvSpPr>
            <a:spLocks noGrp="1"/>
          </p:cNvSpPr>
          <p:nvPr/>
        </p:nvSpPr>
        <p:spPr>
          <a:xfrm>
            <a:off x="5715000" y="23050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5"/>
          </a:bodyPr>
          <a:lstStyle>
            <a:defPPr algn="l">
              <a:defRPr sz="13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Technical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DA425E5-BE46-4D2C-84C5-D221B6E98C16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Phone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6DAA1EB-A2A5-402F-A353-D63A3648A459}"/>
              </a:ext>
            </a:extLst>
          </p:cNvPr>
          <p:cNvSpPr>
            <a:spLocks noGrp="1"/>
          </p:cNvSpPr>
          <p:nvPr/>
        </p:nvSpPr>
        <p:spPr>
          <a:xfrm>
            <a:off x="3143250" y="2924175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507CE20-BF28-424F-B948-6A80EA637759}"/>
              </a:ext>
            </a:extLst>
          </p:cNvPr>
          <p:cNvSpPr>
            <a:spLocks noGrp="1"/>
          </p:cNvSpPr>
          <p:nvPr/>
        </p:nvSpPr>
        <p:spPr>
          <a:xfrm>
            <a:off x="4048125" y="292417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Query + gRPC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E0311D3D-4272-4ED9-AA46-D1A90B7309FD}"/>
              </a:ext>
            </a:extLst>
          </p:cNvPr>
          <p:cNvSpPr>
            <a:spLocks noGrp="1"/>
          </p:cNvSpPr>
          <p:nvPr/>
        </p:nvSpPr>
        <p:spPr>
          <a:xfrm>
            <a:off x="5715000" y="29241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In policy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15A1F3E-9EA4-4CF8-9D86-1CCBBB3317A9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8415F47-3CA8-4B92-AD85-0C7DB1607EE9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64B1560-C1DE-45BD-9C5C-F749A3632D82}"/>
              </a:ext>
            </a:extLst>
          </p:cNvPr>
          <p:cNvSpPr>
            <a:spLocks noGrp="1"/>
          </p:cNvSpPr>
          <p:nvPr/>
        </p:nvSpPr>
        <p:spPr>
          <a:xfrm>
            <a:off x="4048125" y="35433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Request body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DBA6213-88C7-4CA7-B9B2-CE97062ECAFC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In policy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D61B235-7FD4-44F2-BAFA-CDE358A3C021}"/>
              </a:ext>
            </a:extLst>
          </p:cNvPr>
          <p:cNvSpPr>
            <a:spLocks noGrp="1"/>
          </p:cNvSpPr>
          <p:nvPr/>
        </p:nvSpPr>
        <p:spPr>
          <a:xfrm>
            <a:off x="666750" y="416242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C5F8418B-BB2E-4642-9A9A-D38A953E9C5A}"/>
              </a:ext>
            </a:extLst>
          </p:cNvPr>
          <p:cNvSpPr>
            <a:spLocks noGrp="1"/>
          </p:cNvSpPr>
          <p:nvPr/>
        </p:nvSpPr>
        <p:spPr>
          <a:xfrm>
            <a:off x="3143250" y="4162425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D9FD8C11-3E7E-4BD2-BA86-443499477780}"/>
              </a:ext>
            </a:extLst>
          </p:cNvPr>
          <p:cNvSpPr>
            <a:spLocks noGrp="1"/>
          </p:cNvSpPr>
          <p:nvPr/>
        </p:nvSpPr>
        <p:spPr>
          <a:xfrm>
            <a:off x="4048125" y="41624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Request body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FA06A723-6254-4D3B-8F84-5B463328AD4D}"/>
              </a:ext>
            </a:extLst>
          </p:cNvPr>
          <p:cNvSpPr>
            <a:spLocks noGrp="1"/>
          </p:cNvSpPr>
          <p:nvPr/>
        </p:nvSpPr>
        <p:spPr>
          <a:xfrm>
            <a:off x="5715000" y="416242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In policy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1145B57B-19D6-4D18-82A6-45A112B84FD5}"/>
              </a:ext>
            </a:extLst>
          </p:cNvPr>
          <p:cNvSpPr>
            <a:spLocks noGrp="1"/>
          </p:cNvSpPr>
          <p:nvPr/>
        </p:nvSpPr>
        <p:spPr>
          <a:xfrm>
            <a:off x="7905750" y="1333500"/>
            <a:ext cx="38100" cy="400050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A0C554C3-BC3A-40DF-8806-8AC27A9B41BC}"/>
              </a:ext>
            </a:extLst>
          </p:cNvPr>
          <p:cNvSpPr>
            <a:spLocks noGrp="1"/>
          </p:cNvSpPr>
          <p:nvPr/>
        </p:nvSpPr>
        <p:spPr>
          <a:xfrm>
            <a:off x="8429625" y="13525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Policy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07267BBF-C161-4AFD-9E52-6EDFF62C26BF}"/>
              </a:ext>
            </a:extLst>
          </p:cNvPr>
          <p:cNvSpPr>
            <a:spLocks noGrp="1"/>
          </p:cNvSpPr>
          <p:nvPr/>
        </p:nvSpPr>
        <p:spPr>
          <a:xfrm>
            <a:off x="8429625" y="190500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20"/>
          </a:bodyPr>
          <a:lstStyle>
            <a:defPPr algn="l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reviewed policy explicitly names phone number, name and optional email information.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5CDA30CE-1429-4B22-BBE1-6CC16782EE5A}"/>
              </a:ext>
            </a:extLst>
          </p:cNvPr>
          <p:cNvSpPr>
            <a:spLocks noGrp="1"/>
          </p:cNvSpPr>
          <p:nvPr/>
        </p:nvSpPr>
        <p:spPr>
          <a:xfrm>
            <a:off x="8429625" y="32575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Risk finding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D4554BDA-B7A2-48C9-9C4B-8BF8B3C5241C}"/>
              </a:ext>
            </a:extLst>
          </p:cNvPr>
          <p:cNvSpPr>
            <a:spLocks noGrp="1"/>
          </p:cNvSpPr>
          <p:nvPr/>
        </p:nvSpPr>
        <p:spPr>
          <a:xfrm>
            <a:off x="8429625" y="3695700"/>
            <a:ext cx="28575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167"/>
          </a:bodyPr>
          <a:lstStyle>
            <a:def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Personal data appeared in outbound URL evidence. The framework reports this separately even though the data types appear in the policy.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40C749B0-31C0-490A-B97F-C909538C5497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7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Dashboard result: all comparable types disclosed, with URL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39697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D606958-E708-4F87-9AD0-9181E2CABF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BECC279-5C97-4F81-8642-24BBA36A362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Validation and engineering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EF7FA02-CB1B-4468-95C3-A3A4DD52C9A1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9E42AE5-8DFF-4DC9-9AD9-86074524CA2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ctr">
              <a:defRPr sz="48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8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244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499FD1A-D331-4C5A-BC3C-ACFE22A34435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969" lnSpcReduction="10000"/>
          </a:bodyPr>
          <a:lstStyle>
            <a:def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6AD2048-1FDB-4404-A3E0-5770A8E5774F}"/>
              </a:ext>
            </a:extLst>
          </p:cNvPr>
          <p:cNvSpPr>
            <a:spLocks noGrp="1"/>
          </p:cNvSpPr>
          <p:nvPr/>
        </p:nvSpPr>
        <p:spPr>
          <a:xfrm>
            <a:off x="3429000" y="13811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Regression coverage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A3060D7-14EF-4C3F-8E0B-A77B350A4CD3}"/>
              </a:ext>
            </a:extLst>
          </p:cNvPr>
          <p:cNvSpPr>
            <a:spLocks noGrp="1"/>
          </p:cNvSpPr>
          <p:nvPr/>
        </p:nvSpPr>
        <p:spPr>
          <a:xfrm>
            <a:off x="3390900" y="1866900"/>
            <a:ext cx="40005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>
            <a:defPPr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>
              <a:spcAft>
                <a:spcPts val="8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Duplicate-preserving HAR extraction</a:t>
            </a:r>
          </a:p>
          <a:p>
            <a:pPr marL="228600" indent="-114300">
              <a:spcAft>
                <a:spcPts val="8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Nested JSON, multipart and cookie handling</a:t>
            </a:r>
          </a:p>
          <a:p>
            <a:pPr marL="228600" indent="-114300">
              <a:spcAft>
                <a:spcPts val="8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Raw protobuf and gRPC framing</a:t>
            </a:r>
          </a:p>
          <a:p>
            <a:pPr marL="228600" indent="-114300">
              <a:spcAft>
                <a:spcPts val="8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Base64url, charset and bounded email scanning</a:t>
            </a:r>
          </a:p>
          <a:p>
            <a:pPr marL="228600" indent="-114300">
              <a:spcAft>
                <a:spcPts val="8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Policy parsing, comparison and evidence redaction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B8CF95C-902D-43BF-BBB7-07C60DC2DF8E}"/>
              </a:ext>
            </a:extLst>
          </p:cNvPr>
          <p:cNvSpPr>
            <a:spLocks noGrp="1"/>
          </p:cNvSpPr>
          <p:nvPr/>
        </p:nvSpPr>
        <p:spPr>
          <a:xfrm>
            <a:off x="7858125" y="1381125"/>
            <a:ext cx="38100" cy="3667125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DD55BD5-090A-4F57-B641-12100C67ACB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A88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8BFF"/>
                </a:solidFill>
                <a:latin typeface="Arial"/>
                <a:ea typeface="Arial"/>
                <a:cs typeface="Arial"/>
              </a:rPr>
              <a:t>External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271FF57-F7FA-4853-AE06-03AEDE2FFC03}"/>
              </a:ext>
            </a:extLst>
          </p:cNvPr>
          <p:cNvSpPr>
            <a:spLocks noGrp="1"/>
          </p:cNvSpPr>
          <p:nvPr/>
        </p:nvSpPr>
        <p:spPr>
          <a:xfrm>
            <a:off x="8334375" y="1952625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43" lnSpcReduction="10000"/>
          </a:bodyPr>
          <a:lstStyle>
            <a:def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frozen detector was also exercised on converted samples from AntShield, PARROT and OVRseen.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AAED350-2E1A-499C-BBEF-8672068C025D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These datasets use different capture pipelines, so they test portability without changing detector rules.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9CEA5D1-CA21-470A-9337-D7C7F3629E18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75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3B6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B63E"/>
                </a:solidFill>
                <a:latin typeface="Arial"/>
                <a:ea typeface="Arial"/>
                <a:cs typeface="Arial"/>
              </a:rPr>
              <a:t>Privacy protection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3F6592D-B15F-41C3-BC66-1F8FBD4EE03F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Raw HAR files and external datasets remain outside Git. Exported evidence uses redacted values.</a:t>
            </a:r>
          </a:p>
        </p:txBody>
      </p:sp>
    </p:spTree>
    <p:extLst>
      <p:ext uri="{BB962C8B-B14F-4D97-AF65-F5344CB8AC3E}">
        <p14:creationId xmlns:p14="http://schemas.microsoft.com/office/powerpoint/2010/main" val="177482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5AA826F-F0D8-4EAC-A3F0-0D98AFD19A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D3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9177625-6D9F-44FE-9C5B-C652EFEF331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Conclusion and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C167063-9B92-45CA-878D-A8A0FB003B45}"/>
              </a:ext>
            </a:extLst>
          </p:cNvPr>
          <p:cNvSpPr>
            <a:spLocks noGrp="1"/>
          </p:cNvSpPr>
          <p:nvPr/>
        </p:nvSpPr>
        <p:spPr>
          <a:xfrm>
            <a:off x="11315700" y="3810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7C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A74907-C039-45D5-9761-636C66692C44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the project demonstrates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E81F3A8-B2D0-4D34-ABFE-610C9ADC1422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5191125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>
            <a:defPPr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A reproducible pipeline can connect observed network evidence to reviewed policy statements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Modern payload support materially improves detection coverage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Policy gaps and risky transmission channels answer different questions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Capture scope and policy-review completeness remain the main limitations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66B61B8-E470-4605-BD6A-038A7296805B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38100" cy="4000500"/>
          </a:xfrm>
          <a:prstGeom prst="rect">
            <a:avLst/>
          </a:prstGeom>
          <a:solidFill>
            <a:srgbClr val="26344E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53CD558-15C0-4576-AE2B-D7C47A993C7B}"/>
              </a:ext>
            </a:extLst>
          </p:cNvPr>
          <p:cNvSpPr>
            <a:spLocks noGrp="1"/>
          </p:cNvSpPr>
          <p:nvPr/>
        </p:nvSpPr>
        <p:spPr>
          <a:xfrm>
            <a:off x="6715125" y="13335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>
            <a:defPPr algn="l">
              <a:defRPr sz="19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Live demo sequence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2B2CE9A-E248-4CD9-BA95-A553FAAED700}"/>
              </a:ext>
            </a:extLst>
          </p:cNvPr>
          <p:cNvSpPr>
            <a:spLocks noGrp="1"/>
          </p:cNvSpPr>
          <p:nvPr/>
        </p:nvSpPr>
        <p:spPr>
          <a:xfrm>
            <a:off x="6715125" y="19526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F6F34D9-7619-4228-BA2A-230C48CCCD3F}"/>
              </a:ext>
            </a:extLst>
          </p:cNvPr>
          <p:cNvSpPr>
            <a:spLocks noGrp="1"/>
          </p:cNvSpPr>
          <p:nvPr/>
        </p:nvSpPr>
        <p:spPr>
          <a:xfrm>
            <a:off x="7381875" y="195262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Run one 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9585DEB-E1BD-4182-BE4C-7A411635C6CA}"/>
              </a:ext>
            </a:extLst>
          </p:cNvPr>
          <p:cNvSpPr>
            <a:spLocks noGrp="1"/>
          </p:cNvSpPr>
          <p:nvPr/>
        </p:nvSpPr>
        <p:spPr>
          <a:xfrm>
            <a:off x="7381875" y="23336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python main.py --app truecaller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8394A35-1770-42C7-8B1C-519A5A790728}"/>
              </a:ext>
            </a:extLst>
          </p:cNvPr>
          <p:cNvSpPr>
            <a:spLocks noGrp="1"/>
          </p:cNvSpPr>
          <p:nvPr/>
        </p:nvSpPr>
        <p:spPr>
          <a:xfrm>
            <a:off x="6715125" y="30194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D4A1857-9C58-4B47-9454-4969981743FA}"/>
              </a:ext>
            </a:extLst>
          </p:cNvPr>
          <p:cNvSpPr>
            <a:spLocks noGrp="1"/>
          </p:cNvSpPr>
          <p:nvPr/>
        </p:nvSpPr>
        <p:spPr>
          <a:xfrm>
            <a:off x="7381875" y="301942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Open dashboard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4DC40D3-68F6-4F38-B21E-84DAD1D48CC4}"/>
              </a:ext>
            </a:extLst>
          </p:cNvPr>
          <p:cNvSpPr>
            <a:spLocks noGrp="1"/>
          </p:cNvSpPr>
          <p:nvPr/>
        </p:nvSpPr>
        <p:spPr>
          <a:xfrm>
            <a:off x="7381875" y="34004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python run_dashboard.py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B4F9BF6-F04B-4B3C-823D-BE09DEA8AF50}"/>
              </a:ext>
            </a:extLst>
          </p:cNvPr>
          <p:cNvSpPr>
            <a:spLocks noGrp="1"/>
          </p:cNvSpPr>
          <p:nvPr/>
        </p:nvSpPr>
        <p:spPr>
          <a:xfrm>
            <a:off x="6715125" y="40862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7D3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D3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053BBD-EB16-44B4-A33E-B0745BFF537E}"/>
              </a:ext>
            </a:extLst>
          </p:cNvPr>
          <p:cNvSpPr>
            <a:spLocks noGrp="1"/>
          </p:cNvSpPr>
          <p:nvPr/>
        </p:nvSpPr>
        <p:spPr>
          <a:xfrm>
            <a:off x="7381875" y="408622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Show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12F25D4-B04A-4C80-A436-3A3EBCFBBBCA}"/>
              </a:ext>
            </a:extLst>
          </p:cNvPr>
          <p:cNvSpPr>
            <a:spLocks noGrp="1"/>
          </p:cNvSpPr>
          <p:nvPr/>
        </p:nvSpPr>
        <p:spPr>
          <a:xfrm>
            <a:off x="7381875" y="44672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7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E"/>
                </a:solidFill>
                <a:latin typeface="Arial"/>
                <a:ea typeface="Arial"/>
                <a:cs typeface="Arial"/>
              </a:rPr>
              <a:t>Applications → Truecaller → Evidence Explorer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AD699CE-4887-4DAF-A9A5-CD3099501AC9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E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E3A3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93E0537-CCAB-4BF7-B4D2-3BFDEFE67F39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67" lnSpcReduction="10000"/>
          </a:bodyPr>
          <a:lstStyle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framework makes privacy evidence traceable: what was observed, where it was transmitted and whether the reviewed policy names it.</a:t>
            </a:r>
          </a:p>
        </p:txBody>
      </p:sp>
    </p:spTree>
    <p:extLst>
      <p:ext uri="{BB962C8B-B14F-4D97-AF65-F5344CB8AC3E}">
        <p14:creationId xmlns:p14="http://schemas.microsoft.com/office/powerpoint/2010/main" val="18940834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1338</Words>
  <Application>Microsoft Office PowerPoint</Application>
  <DocSecurity>0</DocSecurity>
  <PresentationFormat>Custom</PresentationFormat>
  <Paragraphs>196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Vimlesh Maurya</cp:lastModifiedBy>
  <cp:revision>1</cp:revision>
  <dcterms:created xsi:type="dcterms:W3CDTF">2026-10-05T16:42:09Z</dcterms:created>
  <dcterms:modified xsi:type="dcterms:W3CDTF">2026-10-05T16:59:34Z</dcterms:modified>
</cp:coreProperties>
</file>